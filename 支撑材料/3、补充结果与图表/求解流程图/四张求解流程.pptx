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2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8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231" y="54"/>
      </p:cViewPr>
      <p:guideLst>
        <p:guide orient="horz" pos="2194"/>
        <p:guide pos="285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98367" y="1508760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E5F1FB"/>
          </a:solidFill>
          <a:ln w="20320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89807" y="1581912"/>
            <a:ext cx="52120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1F3A"/>
                </a:solidFill>
                <a:latin typeface="宋体" panose="02010600030101010101" pitchFamily="2" charset="-122"/>
              </a:rPr>
              <a:t>问题一求解流程</a:t>
            </a:r>
            <a:endParaRPr sz="3200" b="1">
              <a:solidFill>
                <a:srgbClr val="0B1F3A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91440" y="2616835"/>
            <a:ext cx="1567180" cy="2117090"/>
          </a:xfrm>
          <a:custGeom>
            <a:avLst/>
            <a:gdLst/>
            <a:ahLst/>
            <a:cxnLst/>
            <a:rect l="l" t="t" r="r" b="b"/>
            <a:pathLst>
              <a:path w="1567129" h="1667865">
                <a:moveTo>
                  <a:pt x="0" y="0"/>
                </a:moveTo>
                <a:lnTo>
                  <a:pt x="1285045" y="0"/>
                </a:lnTo>
                <a:lnTo>
                  <a:pt x="1567129" y="833933"/>
                </a:lnTo>
                <a:lnTo>
                  <a:pt x="1285045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AF4FB"/>
          </a:solidFill>
          <a:ln w="17145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24763" y="2787269"/>
            <a:ext cx="301752" cy="301752"/>
          </a:xfrm>
          <a:prstGeom prst="ellipse">
            <a:avLst/>
          </a:prstGeom>
          <a:solidFill>
            <a:srgbClr val="5A8E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4128" y="2787269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1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3164840"/>
            <a:ext cx="1155700" cy="43053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数据整理与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时段换算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9880" y="3667760"/>
            <a:ext cx="1192530" cy="6407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543"/>
                </a:solidFill>
                <a:latin typeface="宋体" panose="02010600030101010101" pitchFamily="2" charset="-122"/>
              </a:rPr>
              <a:t>读取负载、光伏预测与分时电价，统一换算为10分钟电量。</a:t>
            </a:r>
            <a:endParaRPr sz="1300" b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1850593" y="3538728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2179955" y="2637155"/>
            <a:ext cx="1567180" cy="2085975"/>
          </a:xfrm>
          <a:custGeom>
            <a:avLst/>
            <a:gdLst/>
            <a:ahLst/>
            <a:cxnLst/>
            <a:rect l="l" t="t" r="r" b="b"/>
            <a:pathLst>
              <a:path w="1567129" h="1667865">
                <a:moveTo>
                  <a:pt x="0" y="0"/>
                </a:moveTo>
                <a:lnTo>
                  <a:pt x="1285046" y="0"/>
                </a:lnTo>
                <a:lnTo>
                  <a:pt x="1567129" y="833933"/>
                </a:lnTo>
                <a:lnTo>
                  <a:pt x="1285046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EF9F7"/>
          </a:solidFill>
          <a:ln w="17145">
            <a:solidFill>
              <a:srgbClr val="25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13100" y="2787269"/>
            <a:ext cx="301752" cy="301752"/>
          </a:xfrm>
          <a:prstGeom prst="ellipse">
            <a:avLst/>
          </a:prstGeom>
          <a:solidFill>
            <a:srgbClr val="258A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3100" y="2787269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2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81250" y="3230245"/>
            <a:ext cx="1200785" cy="38163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分析各时段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供需与电价关系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53970" y="3716274"/>
            <a:ext cx="1017422" cy="5435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543"/>
                </a:solidFill>
                <a:latin typeface="宋体" panose="02010600030101010101" pitchFamily="2" charset="-122"/>
              </a:rPr>
              <a:t>识别负载缺口、光伏富余及电价差异，判断储能调节空间。</a:t>
            </a:r>
            <a:endParaRPr sz="1300" b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4267835" y="2644775"/>
            <a:ext cx="1567180" cy="2096770"/>
          </a:xfrm>
          <a:custGeom>
            <a:avLst/>
            <a:gdLst/>
            <a:ahLst/>
            <a:cxnLst/>
            <a:rect l="l" t="t" r="r" b="b"/>
            <a:pathLst>
              <a:path w="1567129" h="1667865">
                <a:moveTo>
                  <a:pt x="0" y="0"/>
                </a:moveTo>
                <a:lnTo>
                  <a:pt x="1285046" y="0"/>
                </a:lnTo>
                <a:lnTo>
                  <a:pt x="1567129" y="833933"/>
                </a:lnTo>
                <a:lnTo>
                  <a:pt x="1285046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AF4FB"/>
          </a:solidFill>
          <a:ln w="17145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01438" y="2789174"/>
            <a:ext cx="301752" cy="301752"/>
          </a:xfrm>
          <a:prstGeom prst="ellipse">
            <a:avLst/>
          </a:prstGeom>
          <a:solidFill>
            <a:srgbClr val="5A8E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1438" y="278917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3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0994" y="3325749"/>
            <a:ext cx="1155649" cy="3162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建立供需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与储能约束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38497" y="3676269"/>
            <a:ext cx="1027632" cy="5435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543"/>
                </a:solidFill>
                <a:latin typeface="宋体" panose="02010600030101010101" pitchFamily="2" charset="-122"/>
              </a:rPr>
              <a:t>设置购电、充放电及储能量约束，建立供需平衡与储能递推关系。</a:t>
            </a:r>
            <a:endParaRPr sz="1300" b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6356350" y="2665095"/>
            <a:ext cx="1567180" cy="2071370"/>
          </a:xfrm>
          <a:custGeom>
            <a:avLst/>
            <a:gdLst/>
            <a:ahLst/>
            <a:cxnLst/>
            <a:rect l="l" t="t" r="r" b="b"/>
            <a:pathLst>
              <a:path w="1567129" h="1667865">
                <a:moveTo>
                  <a:pt x="0" y="0"/>
                </a:moveTo>
                <a:lnTo>
                  <a:pt x="1285046" y="0"/>
                </a:lnTo>
                <a:lnTo>
                  <a:pt x="1567129" y="833933"/>
                </a:lnTo>
                <a:lnTo>
                  <a:pt x="1285046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EF9F7"/>
          </a:solidFill>
          <a:ln w="17145">
            <a:solidFill>
              <a:srgbClr val="25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89140" y="2787269"/>
            <a:ext cx="301752" cy="301752"/>
          </a:xfrm>
          <a:prstGeom prst="ellipse">
            <a:avLst/>
          </a:prstGeom>
          <a:solidFill>
            <a:srgbClr val="258A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9140" y="2787269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4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62191" y="3326384"/>
            <a:ext cx="1155649" cy="3162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设置两级优化目标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49085" y="3716020"/>
            <a:ext cx="1126490" cy="4121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543"/>
                </a:solidFill>
                <a:latin typeface="宋体" panose="02010600030101010101" pitchFamily="2" charset="-122"/>
              </a:rPr>
              <a:t>优先降低购电费用，再减少无效充放电。</a:t>
            </a:r>
            <a:endParaRPr sz="1300" b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8115604" y="3483864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8444865" y="2679700"/>
            <a:ext cx="1567180" cy="2069465"/>
          </a:xfrm>
          <a:custGeom>
            <a:avLst/>
            <a:gdLst/>
            <a:ahLst/>
            <a:cxnLst/>
            <a:rect l="l" t="t" r="r" b="b"/>
            <a:pathLst>
              <a:path w="1567130" h="1667865">
                <a:moveTo>
                  <a:pt x="0" y="0"/>
                </a:moveTo>
                <a:lnTo>
                  <a:pt x="1285046" y="0"/>
                </a:lnTo>
                <a:lnTo>
                  <a:pt x="1567130" y="833933"/>
                </a:lnTo>
                <a:lnTo>
                  <a:pt x="1285046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AF4FB"/>
          </a:solidFill>
          <a:ln w="17145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76842" y="2789809"/>
            <a:ext cx="301752" cy="301752"/>
          </a:xfrm>
          <a:prstGeom prst="ellipse">
            <a:avLst/>
          </a:prstGeom>
          <a:solidFill>
            <a:srgbClr val="5A8E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 panose="02020603050405020304"/>
                <a:sym typeface="+mn-ea"/>
              </a:rPr>
              <a:t>5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27668" y="3325749"/>
            <a:ext cx="1155649" cy="3162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求解购电与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储能方案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02040" y="3705225"/>
            <a:ext cx="1235075" cy="4851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543"/>
                </a:solidFill>
                <a:latin typeface="宋体" panose="02010600030101010101" pitchFamily="2" charset="-122"/>
              </a:rPr>
              <a:t>采用线性规划求解各时段购电量及充放电量。</a:t>
            </a:r>
            <a:endParaRPr sz="1300" b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10199369" y="3483864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0533380" y="2679700"/>
            <a:ext cx="1567180" cy="2054225"/>
          </a:xfrm>
          <a:custGeom>
            <a:avLst/>
            <a:gdLst/>
            <a:ahLst/>
            <a:cxnLst/>
            <a:rect l="l" t="t" r="r" b="b"/>
            <a:pathLst>
              <a:path w="1567129" h="1667865">
                <a:moveTo>
                  <a:pt x="0" y="0"/>
                </a:moveTo>
                <a:lnTo>
                  <a:pt x="1285045" y="0"/>
                </a:lnTo>
                <a:lnTo>
                  <a:pt x="1567129" y="833933"/>
                </a:lnTo>
                <a:lnTo>
                  <a:pt x="1285045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EF9F7"/>
          </a:solidFill>
          <a:ln w="17145">
            <a:solidFill>
              <a:srgbClr val="25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65814" y="2830449"/>
            <a:ext cx="301752" cy="301752"/>
          </a:xfrm>
          <a:prstGeom prst="ellipse">
            <a:avLst/>
          </a:prstGeom>
          <a:solidFill>
            <a:srgbClr val="258A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65814" y="283108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6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716006" y="3291840"/>
            <a:ext cx="115564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结果比较与可行性检验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772140" y="3705225"/>
            <a:ext cx="1254125" cy="6407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543"/>
                </a:solidFill>
                <a:latin typeface="宋体" panose="02010600030101010101" pitchFamily="2" charset="-122"/>
              </a:rPr>
              <a:t>与无储能方案比较，并检验储能边界、首末状态及费用变化。</a:t>
            </a:r>
            <a:endParaRPr sz="1300" b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44" name="Right Arrow 14"/>
          <p:cNvSpPr/>
          <p:nvPr/>
        </p:nvSpPr>
        <p:spPr>
          <a:xfrm>
            <a:off x="3938930" y="3483864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20"/>
          <p:cNvSpPr/>
          <p:nvPr/>
        </p:nvSpPr>
        <p:spPr>
          <a:xfrm>
            <a:off x="6027267" y="3502152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8"/>
          <p:cNvSpPr/>
          <p:nvPr/>
        </p:nvSpPr>
        <p:spPr>
          <a:xfrm>
            <a:off x="1850593" y="3483864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98367" y="1508760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E5F1FB"/>
          </a:solidFill>
          <a:ln w="20320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89807" y="1581912"/>
            <a:ext cx="52120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1F3A"/>
                </a:solidFill>
                <a:latin typeface="宋体" panose="02010600030101010101" pitchFamily="2" charset="-122"/>
              </a:rPr>
              <a:t>问题二求解流程</a:t>
            </a:r>
            <a:endParaRPr sz="3200" b="1">
              <a:solidFill>
                <a:srgbClr val="0B1F3A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91440" y="2851099"/>
            <a:ext cx="1567129" cy="1667865"/>
          </a:xfrm>
          <a:custGeom>
            <a:avLst/>
            <a:gdLst/>
            <a:ahLst/>
            <a:cxnLst/>
            <a:rect l="l" t="t" r="r" b="b"/>
            <a:pathLst>
              <a:path w="1567129" h="1667865">
                <a:moveTo>
                  <a:pt x="0" y="0"/>
                </a:moveTo>
                <a:lnTo>
                  <a:pt x="1285045" y="0"/>
                </a:lnTo>
                <a:lnTo>
                  <a:pt x="1567129" y="833933"/>
                </a:lnTo>
                <a:lnTo>
                  <a:pt x="1285045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AF4FB"/>
          </a:solidFill>
          <a:ln w="17145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24128" y="2935224"/>
            <a:ext cx="301752" cy="301752"/>
          </a:xfrm>
          <a:prstGeom prst="ellipse">
            <a:avLst/>
          </a:prstGeom>
          <a:solidFill>
            <a:srgbClr val="5A8E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4128" y="29352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1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3325749"/>
            <a:ext cx="1155649" cy="3162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历史数据整理与样本构造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5445" y="3712845"/>
            <a:ext cx="1096645" cy="4851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整理负载、光伏及电价数据，构造预测样本。</a:t>
            </a:r>
            <a:endParaRPr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2179777" y="2851099"/>
            <a:ext cx="1567129" cy="1667865"/>
          </a:xfrm>
          <a:custGeom>
            <a:avLst/>
            <a:gdLst/>
            <a:ahLst/>
            <a:cxnLst/>
            <a:rect l="l" t="t" r="r" b="b"/>
            <a:pathLst>
              <a:path w="1567129" h="1667865">
                <a:moveTo>
                  <a:pt x="0" y="0"/>
                </a:moveTo>
                <a:lnTo>
                  <a:pt x="1285046" y="0"/>
                </a:lnTo>
                <a:lnTo>
                  <a:pt x="1567129" y="833933"/>
                </a:lnTo>
                <a:lnTo>
                  <a:pt x="1285046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EF9F7"/>
          </a:solidFill>
          <a:ln w="17145">
            <a:solidFill>
              <a:srgbClr val="25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12465" y="2935224"/>
            <a:ext cx="301752" cy="301752"/>
          </a:xfrm>
          <a:prstGeom prst="ellipse">
            <a:avLst/>
          </a:prstGeom>
          <a:solidFill>
            <a:srgbClr val="258A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2465" y="29352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2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62657" y="3325749"/>
            <a:ext cx="1155649" cy="3162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负载与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光伏预测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51100" y="3654425"/>
            <a:ext cx="1067435" cy="5435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基于历史周期信息，预测次日负荷与光伏发电情况。</a:t>
            </a:r>
            <a:endParaRPr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4268114" y="2851099"/>
            <a:ext cx="1567129" cy="1667865"/>
          </a:xfrm>
          <a:custGeom>
            <a:avLst/>
            <a:gdLst/>
            <a:ahLst/>
            <a:cxnLst/>
            <a:rect l="l" t="t" r="r" b="b"/>
            <a:pathLst>
              <a:path w="1567129" h="1667865">
                <a:moveTo>
                  <a:pt x="0" y="0"/>
                </a:moveTo>
                <a:lnTo>
                  <a:pt x="1285046" y="0"/>
                </a:lnTo>
                <a:lnTo>
                  <a:pt x="1567129" y="833933"/>
                </a:lnTo>
                <a:lnTo>
                  <a:pt x="1285046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AF4FB"/>
          </a:solidFill>
          <a:ln w="17145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00803" y="2935224"/>
            <a:ext cx="301752" cy="301752"/>
          </a:xfrm>
          <a:prstGeom prst="ellipse">
            <a:avLst/>
          </a:prstGeom>
          <a:solidFill>
            <a:srgbClr val="5A8E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0803" y="29352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3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0994" y="3325749"/>
            <a:ext cx="1155649" cy="3162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>
                <a:solidFill>
                  <a:srgbClr val="0B2543"/>
                </a:solidFill>
                <a:latin typeface="宋体" panose="02010600030101010101" pitchFamily="2" charset="-122"/>
              </a:rPr>
              <a:t>预测误差</a:t>
            </a:r>
            <a:endParaRPr lang="zh-CN" sz="1320" b="1">
              <a:solidFill>
                <a:srgbClr val="0B2543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风险修正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31690" y="3712845"/>
            <a:ext cx="974725" cy="4851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分析预测误差，修正次日购电需求</a:t>
            </a:r>
            <a:r>
              <a:rPr sz="1100" b="0">
                <a:solidFill>
                  <a:srgbClr val="0B2543"/>
                </a:solidFill>
                <a:latin typeface="宋体" panose="02010600030101010101" pitchFamily="2" charset="-122"/>
              </a:rPr>
              <a:t>。</a:t>
            </a:r>
            <a:endParaRPr sz="1100" b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6356451" y="2851099"/>
            <a:ext cx="1567129" cy="1667865"/>
          </a:xfrm>
          <a:custGeom>
            <a:avLst/>
            <a:gdLst/>
            <a:ahLst/>
            <a:cxnLst/>
            <a:rect l="l" t="t" r="r" b="b"/>
            <a:pathLst>
              <a:path w="1567129" h="1667865">
                <a:moveTo>
                  <a:pt x="0" y="0"/>
                </a:moveTo>
                <a:lnTo>
                  <a:pt x="1285046" y="0"/>
                </a:lnTo>
                <a:lnTo>
                  <a:pt x="1567129" y="833933"/>
                </a:lnTo>
                <a:lnTo>
                  <a:pt x="1285046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EF9F7"/>
          </a:solidFill>
          <a:ln w="17145">
            <a:solidFill>
              <a:srgbClr val="25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89140" y="2935224"/>
            <a:ext cx="301752" cy="301752"/>
          </a:xfrm>
          <a:prstGeom prst="ellipse">
            <a:avLst/>
          </a:prstGeom>
          <a:solidFill>
            <a:srgbClr val="258A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9140" y="29352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4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39331" y="3291840"/>
            <a:ext cx="115564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建立滚动优化模型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16065" y="3712845"/>
            <a:ext cx="1195705" cy="4851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以购电费用最低为目标，设置储能运行约束。</a:t>
            </a:r>
            <a:endParaRPr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8031773" y="3483864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8444788" y="2851099"/>
            <a:ext cx="1567130" cy="1667865"/>
          </a:xfrm>
          <a:custGeom>
            <a:avLst/>
            <a:gdLst/>
            <a:ahLst/>
            <a:cxnLst/>
            <a:rect l="l" t="t" r="r" b="b"/>
            <a:pathLst>
              <a:path w="1567130" h="1667865">
                <a:moveTo>
                  <a:pt x="0" y="0"/>
                </a:moveTo>
                <a:lnTo>
                  <a:pt x="1285046" y="0"/>
                </a:lnTo>
                <a:lnTo>
                  <a:pt x="1567130" y="833933"/>
                </a:lnTo>
                <a:lnTo>
                  <a:pt x="1285046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AF4FB"/>
          </a:solidFill>
          <a:ln w="17145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77477" y="2935224"/>
            <a:ext cx="301752" cy="301752"/>
          </a:xfrm>
          <a:prstGeom prst="ellipse">
            <a:avLst/>
          </a:prstGeom>
          <a:solidFill>
            <a:srgbClr val="5A8E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7477" y="29352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5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27668" y="3291840"/>
            <a:ext cx="115564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实际运行回放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57920" y="3712845"/>
            <a:ext cx="1146175" cy="4851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执行滚动优化，根据误差调整储能策略。</a:t>
            </a:r>
            <a:endParaRPr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10533126" y="2851099"/>
            <a:ext cx="1567129" cy="1667865"/>
          </a:xfrm>
          <a:custGeom>
            <a:avLst/>
            <a:gdLst/>
            <a:ahLst/>
            <a:cxnLst/>
            <a:rect l="l" t="t" r="r" b="b"/>
            <a:pathLst>
              <a:path w="1567129" h="1667865">
                <a:moveTo>
                  <a:pt x="0" y="0"/>
                </a:moveTo>
                <a:lnTo>
                  <a:pt x="1285045" y="0"/>
                </a:lnTo>
                <a:lnTo>
                  <a:pt x="1567129" y="833933"/>
                </a:lnTo>
                <a:lnTo>
                  <a:pt x="1285045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EF9F7"/>
          </a:solidFill>
          <a:ln w="17145">
            <a:solidFill>
              <a:srgbClr val="25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65814" y="2935224"/>
            <a:ext cx="301752" cy="301752"/>
          </a:xfrm>
          <a:prstGeom prst="ellipse">
            <a:avLst/>
          </a:prstGeom>
          <a:solidFill>
            <a:srgbClr val="258A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65814" y="29352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6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716006" y="3325749"/>
            <a:ext cx="1155649" cy="3162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结果统计与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验证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848340" y="3676015"/>
            <a:ext cx="1086485" cy="4851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对比优化效果，分析经济性与可靠性。</a:t>
            </a:r>
            <a:endParaRPr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51" name="Right Arrow 32"/>
          <p:cNvSpPr/>
          <p:nvPr/>
        </p:nvSpPr>
        <p:spPr>
          <a:xfrm>
            <a:off x="10176511" y="3484899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ight Arrow 8"/>
          <p:cNvSpPr/>
          <p:nvPr/>
        </p:nvSpPr>
        <p:spPr>
          <a:xfrm>
            <a:off x="1837121" y="3511295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ight Arrow 14"/>
          <p:cNvSpPr/>
          <p:nvPr/>
        </p:nvSpPr>
        <p:spPr>
          <a:xfrm>
            <a:off x="3975506" y="3511295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ight Arrow 20"/>
          <p:cNvSpPr/>
          <p:nvPr/>
        </p:nvSpPr>
        <p:spPr>
          <a:xfrm>
            <a:off x="6032218" y="3502152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98367" y="1508760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E5F1FB"/>
          </a:solidFill>
          <a:ln w="20320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89807" y="1581912"/>
            <a:ext cx="52120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1F3A"/>
                </a:solidFill>
                <a:latin typeface="宋体" panose="02010600030101010101" pitchFamily="2" charset="-122"/>
              </a:rPr>
              <a:t>问题三求解流程</a:t>
            </a:r>
            <a:endParaRPr sz="3200" b="1">
              <a:solidFill>
                <a:srgbClr val="0B1F3A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91440" y="2851099"/>
            <a:ext cx="1567129" cy="1667865"/>
          </a:xfrm>
          <a:custGeom>
            <a:avLst/>
            <a:gdLst/>
            <a:ahLst/>
            <a:cxnLst/>
            <a:rect l="l" t="t" r="r" b="b"/>
            <a:pathLst>
              <a:path w="1567129" h="1667865">
                <a:moveTo>
                  <a:pt x="0" y="0"/>
                </a:moveTo>
                <a:lnTo>
                  <a:pt x="1285045" y="0"/>
                </a:lnTo>
                <a:lnTo>
                  <a:pt x="1567129" y="833933"/>
                </a:lnTo>
                <a:lnTo>
                  <a:pt x="1285045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AF4FB"/>
          </a:solidFill>
          <a:ln w="17145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24128" y="2935224"/>
            <a:ext cx="301752" cy="301752"/>
          </a:xfrm>
          <a:prstGeom prst="ellipse">
            <a:avLst/>
          </a:prstGeom>
          <a:solidFill>
            <a:srgbClr val="5A8E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4128" y="29352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1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3291840"/>
            <a:ext cx="115564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预报数据对齐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3380" y="3676015"/>
            <a:ext cx="1094740" cy="4851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543"/>
                </a:solidFill>
                <a:latin typeface="宋体" panose="02010600030101010101" pitchFamily="2" charset="-122"/>
              </a:rPr>
              <a:t>整理负荷、光伏、电价数据，统一时间尺度。</a:t>
            </a:r>
            <a:endParaRPr sz="1300" b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1713433" y="3511296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2179777" y="2851099"/>
            <a:ext cx="1567129" cy="1667865"/>
          </a:xfrm>
          <a:custGeom>
            <a:avLst/>
            <a:gdLst/>
            <a:ahLst/>
            <a:cxnLst/>
            <a:rect l="l" t="t" r="r" b="b"/>
            <a:pathLst>
              <a:path w="1567129" h="1667865">
                <a:moveTo>
                  <a:pt x="0" y="0"/>
                </a:moveTo>
                <a:lnTo>
                  <a:pt x="1285046" y="0"/>
                </a:lnTo>
                <a:lnTo>
                  <a:pt x="1567129" y="833933"/>
                </a:lnTo>
                <a:lnTo>
                  <a:pt x="1285046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EF9F7"/>
          </a:solidFill>
          <a:ln w="17145">
            <a:solidFill>
              <a:srgbClr val="25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12465" y="2935224"/>
            <a:ext cx="301752" cy="301752"/>
          </a:xfrm>
          <a:prstGeom prst="ellipse">
            <a:avLst/>
          </a:prstGeom>
          <a:solidFill>
            <a:srgbClr val="258A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2465" y="29352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2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62657" y="3325749"/>
            <a:ext cx="1155649" cy="3162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生成0时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初始计划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77770" y="3676015"/>
            <a:ext cx="1040765" cy="4121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543"/>
                </a:solidFill>
                <a:latin typeface="宋体" panose="02010600030101010101" pitchFamily="2" charset="-122"/>
              </a:rPr>
              <a:t>基于风险修正方法，生成初始购电计划。</a:t>
            </a:r>
            <a:endParaRPr sz="1300" b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3801770" y="3511296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268114" y="2851099"/>
            <a:ext cx="1567129" cy="1667865"/>
          </a:xfrm>
          <a:custGeom>
            <a:avLst/>
            <a:gdLst/>
            <a:ahLst/>
            <a:cxnLst/>
            <a:rect l="l" t="t" r="r" b="b"/>
            <a:pathLst>
              <a:path w="1567129" h="1667865">
                <a:moveTo>
                  <a:pt x="0" y="0"/>
                </a:moveTo>
                <a:lnTo>
                  <a:pt x="1285046" y="0"/>
                </a:lnTo>
                <a:lnTo>
                  <a:pt x="1567129" y="833933"/>
                </a:lnTo>
                <a:lnTo>
                  <a:pt x="1285046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AF4FB"/>
          </a:solidFill>
          <a:ln w="17145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00803" y="2935224"/>
            <a:ext cx="301752" cy="301752"/>
          </a:xfrm>
          <a:prstGeom prst="ellipse">
            <a:avLst/>
          </a:prstGeom>
          <a:solidFill>
            <a:srgbClr val="5A8E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0803" y="29352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3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0994" y="3291840"/>
            <a:ext cx="115564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日内信息更新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7715" y="3676015"/>
            <a:ext cx="1130935" cy="4121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543"/>
                </a:solidFill>
                <a:latin typeface="宋体" panose="02010600030101010101" pitchFamily="2" charset="-122"/>
              </a:rPr>
              <a:t>根据新增信息更新预测数据，调整购电计划。</a:t>
            </a:r>
            <a:endParaRPr sz="1300" b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5890107" y="3511296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6356451" y="2851099"/>
            <a:ext cx="1567129" cy="1667865"/>
          </a:xfrm>
          <a:custGeom>
            <a:avLst/>
            <a:gdLst/>
            <a:ahLst/>
            <a:cxnLst/>
            <a:rect l="l" t="t" r="r" b="b"/>
            <a:pathLst>
              <a:path w="1567129" h="1667865">
                <a:moveTo>
                  <a:pt x="0" y="0"/>
                </a:moveTo>
                <a:lnTo>
                  <a:pt x="1285046" y="0"/>
                </a:lnTo>
                <a:lnTo>
                  <a:pt x="1567129" y="833933"/>
                </a:lnTo>
                <a:lnTo>
                  <a:pt x="1285046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EF9F7"/>
          </a:solidFill>
          <a:ln w="17145">
            <a:solidFill>
              <a:srgbClr val="25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89140" y="2935224"/>
            <a:ext cx="301752" cy="301752"/>
          </a:xfrm>
          <a:prstGeom prst="ellipse">
            <a:avLst/>
          </a:prstGeom>
          <a:solidFill>
            <a:srgbClr val="258A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9140" y="29352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4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39331" y="3291840"/>
            <a:ext cx="115564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构建调整优化模型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03365" y="3676015"/>
            <a:ext cx="1147445" cy="4121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543"/>
                </a:solidFill>
                <a:latin typeface="宋体" panose="02010600030101010101" pitchFamily="2" charset="-122"/>
              </a:rPr>
              <a:t>重新优化购电与储能策略，满足运行约束。</a:t>
            </a:r>
            <a:endParaRPr sz="1300" b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7978444" y="3511296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8444788" y="2851099"/>
            <a:ext cx="1567130" cy="1667865"/>
          </a:xfrm>
          <a:custGeom>
            <a:avLst/>
            <a:gdLst/>
            <a:ahLst/>
            <a:cxnLst/>
            <a:rect l="l" t="t" r="r" b="b"/>
            <a:pathLst>
              <a:path w="1567130" h="1667865">
                <a:moveTo>
                  <a:pt x="0" y="0"/>
                </a:moveTo>
                <a:lnTo>
                  <a:pt x="1285046" y="0"/>
                </a:lnTo>
                <a:lnTo>
                  <a:pt x="1567130" y="833933"/>
                </a:lnTo>
                <a:lnTo>
                  <a:pt x="1285046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AF4FB"/>
          </a:solidFill>
          <a:ln w="17145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77477" y="2935224"/>
            <a:ext cx="301752" cy="301752"/>
          </a:xfrm>
          <a:prstGeom prst="ellipse">
            <a:avLst/>
          </a:prstGeom>
          <a:solidFill>
            <a:srgbClr val="5A8E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7477" y="29352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5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27668" y="3291840"/>
            <a:ext cx="115564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实际运行回放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47125" y="3676015"/>
            <a:ext cx="1085850" cy="4121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543"/>
                </a:solidFill>
                <a:latin typeface="宋体" panose="02010600030101010101" pitchFamily="2" charset="-122"/>
              </a:rPr>
              <a:t>执行最终计划，根据偏差调整运行方案</a:t>
            </a:r>
            <a:r>
              <a:rPr sz="1100" b="0">
                <a:solidFill>
                  <a:srgbClr val="0B2543"/>
                </a:solidFill>
                <a:latin typeface="宋体" panose="02010600030101010101" pitchFamily="2" charset="-122"/>
              </a:rPr>
              <a:t>。</a:t>
            </a:r>
            <a:endParaRPr sz="1100" b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10066782" y="3511296"/>
            <a:ext cx="210312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0528046" y="2851099"/>
            <a:ext cx="1567129" cy="1667865"/>
          </a:xfrm>
          <a:custGeom>
            <a:avLst/>
            <a:gdLst/>
            <a:ahLst/>
            <a:cxnLst/>
            <a:rect l="l" t="t" r="r" b="b"/>
            <a:pathLst>
              <a:path w="1567129" h="1667865">
                <a:moveTo>
                  <a:pt x="0" y="0"/>
                </a:moveTo>
                <a:lnTo>
                  <a:pt x="1285045" y="0"/>
                </a:lnTo>
                <a:lnTo>
                  <a:pt x="1567129" y="833933"/>
                </a:lnTo>
                <a:lnTo>
                  <a:pt x="1285045" y="1667865"/>
                </a:lnTo>
                <a:lnTo>
                  <a:pt x="0" y="1667865"/>
                </a:lnTo>
                <a:lnTo>
                  <a:pt x="219398" y="833933"/>
                </a:lnTo>
                <a:close/>
              </a:path>
            </a:pathLst>
          </a:custGeom>
          <a:solidFill>
            <a:srgbClr val="EEF9F7"/>
          </a:solidFill>
          <a:ln w="17145">
            <a:solidFill>
              <a:srgbClr val="25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65814" y="2935224"/>
            <a:ext cx="301752" cy="301752"/>
          </a:xfrm>
          <a:prstGeom prst="ellipse">
            <a:avLst/>
          </a:prstGeom>
          <a:solidFill>
            <a:srgbClr val="258A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65814" y="29352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6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716006" y="3325749"/>
            <a:ext cx="1155649" cy="3162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结果比较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与评价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823575" y="3676015"/>
            <a:ext cx="1099185" cy="4121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543"/>
                </a:solidFill>
                <a:latin typeface="宋体" panose="02010600030101010101" pitchFamily="2" charset="-122"/>
              </a:rPr>
              <a:t>对比调整方案，评价经济性与收益。</a:t>
            </a:r>
            <a:endParaRPr sz="1300" b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0" y="411480"/>
            <a:ext cx="4892040" cy="685800"/>
          </a:xfrm>
          <a:prstGeom prst="roundRect">
            <a:avLst>
              <a:gd name="adj" fmla="val 8000"/>
            </a:avLst>
          </a:prstGeom>
          <a:solidFill>
            <a:srgbClr val="E5F1FB"/>
          </a:solidFill>
          <a:ln w="20320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0" y="484632"/>
            <a:ext cx="4709159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1F3A"/>
                </a:solidFill>
                <a:latin typeface="宋体" panose="02010600030101010101" pitchFamily="2" charset="-122"/>
              </a:rPr>
              <a:t>问题四第一问求解流程</a:t>
            </a:r>
            <a:endParaRPr sz="3000" b="1">
              <a:solidFill>
                <a:srgbClr val="0B1F3A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91440" y="1477304"/>
            <a:ext cx="1704289" cy="1562527"/>
          </a:xfrm>
          <a:custGeom>
            <a:avLst/>
            <a:gdLst/>
            <a:ahLst/>
            <a:cxnLst/>
            <a:rect l="l" t="t" r="r" b="b"/>
            <a:pathLst>
              <a:path w="1704289" h="1562527">
                <a:moveTo>
                  <a:pt x="0" y="0"/>
                </a:moveTo>
                <a:lnTo>
                  <a:pt x="1397517" y="0"/>
                </a:lnTo>
                <a:lnTo>
                  <a:pt x="1704289" y="781264"/>
                </a:lnTo>
                <a:lnTo>
                  <a:pt x="1397517" y="1562527"/>
                </a:lnTo>
                <a:lnTo>
                  <a:pt x="0" y="1562527"/>
                </a:lnTo>
                <a:lnTo>
                  <a:pt x="238600" y="781264"/>
                </a:lnTo>
                <a:close/>
              </a:path>
            </a:pathLst>
          </a:custGeom>
          <a:solidFill>
            <a:srgbClr val="EAF4FB"/>
          </a:solidFill>
          <a:ln w="17145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2708" y="1563624"/>
            <a:ext cx="301752" cy="301752"/>
          </a:xfrm>
          <a:prstGeom prst="ellipse">
            <a:avLst/>
          </a:prstGeom>
          <a:solidFill>
            <a:srgbClr val="5A8E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708" y="15636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1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9720" y="1986915"/>
            <a:ext cx="1432560" cy="1581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整理多源运行数据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2110" y="2245360"/>
            <a:ext cx="1287780" cy="6407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整理负载、光伏发电功率和实时电价数据，统一时间尺度。</a:t>
            </a:r>
            <a:endParaRPr lang="en-US"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1850593" y="2084832"/>
            <a:ext cx="155448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2152345" y="1477304"/>
            <a:ext cx="1704289" cy="1562527"/>
          </a:xfrm>
          <a:custGeom>
            <a:avLst/>
            <a:gdLst/>
            <a:ahLst/>
            <a:cxnLst/>
            <a:rect l="l" t="t" r="r" b="b"/>
            <a:pathLst>
              <a:path w="1704289" h="1562527">
                <a:moveTo>
                  <a:pt x="0" y="0"/>
                </a:moveTo>
                <a:lnTo>
                  <a:pt x="1397517" y="0"/>
                </a:lnTo>
                <a:lnTo>
                  <a:pt x="1704289" y="781264"/>
                </a:lnTo>
                <a:lnTo>
                  <a:pt x="1397517" y="1562527"/>
                </a:lnTo>
                <a:lnTo>
                  <a:pt x="0" y="1562527"/>
                </a:lnTo>
                <a:lnTo>
                  <a:pt x="238600" y="781264"/>
                </a:lnTo>
                <a:close/>
              </a:path>
            </a:pathLst>
          </a:custGeom>
          <a:solidFill>
            <a:srgbClr val="EEF9F7"/>
          </a:solidFill>
          <a:ln w="17145">
            <a:solidFill>
              <a:srgbClr val="25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53613" y="1563624"/>
            <a:ext cx="301752" cy="301752"/>
          </a:xfrm>
          <a:prstGeom prst="ellipse">
            <a:avLst/>
          </a:prstGeom>
          <a:solidFill>
            <a:srgbClr val="258A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3613" y="15636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2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97455" y="1907794"/>
            <a:ext cx="1292809" cy="3162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预测负载、光伏与电价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44750" y="2245360"/>
            <a:ext cx="1320165" cy="6407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利用历史同期信息预测负载、光伏发电功率及未来时段电价。</a:t>
            </a:r>
            <a:endParaRPr lang="en-US"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3911498" y="2084832"/>
            <a:ext cx="155448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213250" y="1477304"/>
            <a:ext cx="1704289" cy="1562527"/>
          </a:xfrm>
          <a:custGeom>
            <a:avLst/>
            <a:gdLst/>
            <a:ahLst/>
            <a:cxnLst/>
            <a:rect l="l" t="t" r="r" b="b"/>
            <a:pathLst>
              <a:path w="1704289" h="1562527">
                <a:moveTo>
                  <a:pt x="0" y="0"/>
                </a:moveTo>
                <a:lnTo>
                  <a:pt x="1397517" y="0"/>
                </a:lnTo>
                <a:lnTo>
                  <a:pt x="1704289" y="781264"/>
                </a:lnTo>
                <a:lnTo>
                  <a:pt x="1397517" y="1562527"/>
                </a:lnTo>
                <a:lnTo>
                  <a:pt x="0" y="1562527"/>
                </a:lnTo>
                <a:lnTo>
                  <a:pt x="238600" y="781264"/>
                </a:lnTo>
                <a:close/>
              </a:path>
            </a:pathLst>
          </a:custGeom>
          <a:solidFill>
            <a:srgbClr val="EAF4FB"/>
          </a:solidFill>
          <a:ln w="17145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14519" y="1563624"/>
            <a:ext cx="301752" cy="301752"/>
          </a:xfrm>
          <a:prstGeom prst="ellipse">
            <a:avLst/>
          </a:prstGeom>
          <a:solidFill>
            <a:srgbClr val="5A8E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4519" y="15636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3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96105" y="1986280"/>
            <a:ext cx="1368425" cy="1581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预测误差风险修正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52315" y="2245360"/>
            <a:ext cx="1068070" cy="6407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统计历史净负荷误差，按误差分位数修正购电需求。</a:t>
            </a:r>
            <a:endParaRPr lang="en-US"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5972403" y="2084832"/>
            <a:ext cx="155448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6274155" y="1477304"/>
            <a:ext cx="1704289" cy="1562527"/>
          </a:xfrm>
          <a:custGeom>
            <a:avLst/>
            <a:gdLst/>
            <a:ahLst/>
            <a:cxnLst/>
            <a:rect l="l" t="t" r="r" b="b"/>
            <a:pathLst>
              <a:path w="1704289" h="1562527">
                <a:moveTo>
                  <a:pt x="0" y="0"/>
                </a:moveTo>
                <a:lnTo>
                  <a:pt x="1397517" y="0"/>
                </a:lnTo>
                <a:lnTo>
                  <a:pt x="1704289" y="781264"/>
                </a:lnTo>
                <a:lnTo>
                  <a:pt x="1397517" y="1562527"/>
                </a:lnTo>
                <a:lnTo>
                  <a:pt x="0" y="1562527"/>
                </a:lnTo>
                <a:lnTo>
                  <a:pt x="238601" y="781264"/>
                </a:lnTo>
                <a:close/>
              </a:path>
            </a:pathLst>
          </a:custGeom>
          <a:solidFill>
            <a:srgbClr val="EEF9F7"/>
          </a:solidFill>
          <a:ln w="17145">
            <a:solidFill>
              <a:srgbClr val="25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75424" y="1563624"/>
            <a:ext cx="301752" cy="301752"/>
          </a:xfrm>
          <a:prstGeom prst="ellipse">
            <a:avLst/>
          </a:prstGeom>
          <a:solidFill>
            <a:srgbClr val="258A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75424" y="15636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4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44615" y="1986280"/>
            <a:ext cx="1449705" cy="1581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建立滚动优化模型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13525" y="2245360"/>
            <a:ext cx="1113790" cy="6407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结合电价预测结果，优化购电计划与储能运行方案。</a:t>
            </a:r>
            <a:endParaRPr lang="en-US"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8033308" y="2084832"/>
            <a:ext cx="155448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8335060" y="1477304"/>
            <a:ext cx="1704290" cy="1562527"/>
          </a:xfrm>
          <a:custGeom>
            <a:avLst/>
            <a:gdLst/>
            <a:ahLst/>
            <a:cxnLst/>
            <a:rect l="l" t="t" r="r" b="b"/>
            <a:pathLst>
              <a:path w="1704290" h="1562527">
                <a:moveTo>
                  <a:pt x="0" y="0"/>
                </a:moveTo>
                <a:lnTo>
                  <a:pt x="1397517" y="0"/>
                </a:lnTo>
                <a:lnTo>
                  <a:pt x="1704290" y="781264"/>
                </a:lnTo>
                <a:lnTo>
                  <a:pt x="1397517" y="1562527"/>
                </a:lnTo>
                <a:lnTo>
                  <a:pt x="0" y="1562527"/>
                </a:lnTo>
                <a:lnTo>
                  <a:pt x="238601" y="781264"/>
                </a:lnTo>
                <a:close/>
              </a:path>
            </a:pathLst>
          </a:custGeom>
          <a:solidFill>
            <a:srgbClr val="EAF4FB"/>
          </a:solidFill>
          <a:ln w="17145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36329" y="1563624"/>
            <a:ext cx="301752" cy="301752"/>
          </a:xfrm>
          <a:prstGeom prst="ellipse">
            <a:avLst/>
          </a:prstGeom>
          <a:solidFill>
            <a:srgbClr val="5A8E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36329" y="15636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5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17940" y="2049717"/>
            <a:ext cx="1292809" cy="1250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实际运行回放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669655" y="2245360"/>
            <a:ext cx="1068070" cy="6407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按时计划执行，根据偏差调整储能，满足缺口购电。</a:t>
            </a:r>
            <a:endParaRPr lang="en-US"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10094214" y="2084832"/>
            <a:ext cx="155448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0395965" y="1477304"/>
            <a:ext cx="1704290" cy="1562527"/>
          </a:xfrm>
          <a:custGeom>
            <a:avLst/>
            <a:gdLst/>
            <a:ahLst/>
            <a:cxnLst/>
            <a:rect l="l" t="t" r="r" b="b"/>
            <a:pathLst>
              <a:path w="1704290" h="1562527">
                <a:moveTo>
                  <a:pt x="0" y="0"/>
                </a:moveTo>
                <a:lnTo>
                  <a:pt x="1397518" y="0"/>
                </a:lnTo>
                <a:lnTo>
                  <a:pt x="1704290" y="781264"/>
                </a:lnTo>
                <a:lnTo>
                  <a:pt x="1397518" y="1562527"/>
                </a:lnTo>
                <a:lnTo>
                  <a:pt x="0" y="1562527"/>
                </a:lnTo>
                <a:lnTo>
                  <a:pt x="238601" y="781264"/>
                </a:lnTo>
                <a:close/>
              </a:path>
            </a:pathLst>
          </a:custGeom>
          <a:solidFill>
            <a:srgbClr val="EEF9F7"/>
          </a:solidFill>
          <a:ln w="17145">
            <a:solidFill>
              <a:srgbClr val="25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097234" y="1563624"/>
            <a:ext cx="301752" cy="301752"/>
          </a:xfrm>
          <a:prstGeom prst="ellipse">
            <a:avLst/>
          </a:prstGeom>
          <a:solidFill>
            <a:srgbClr val="258A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97234" y="1563624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6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78845" y="2033207"/>
            <a:ext cx="1292809" cy="1581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结果比较与评价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88320" y="2245360"/>
            <a:ext cx="1299845" cy="4121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比较优化方案与原策略费用，分析波动电价下经济效果。</a:t>
            </a:r>
            <a:endParaRPr lang="en-US"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743200" y="3685032"/>
            <a:ext cx="4892040" cy="685800"/>
          </a:xfrm>
          <a:prstGeom prst="roundRect">
            <a:avLst>
              <a:gd name="adj" fmla="val 8000"/>
            </a:avLst>
          </a:prstGeom>
          <a:solidFill>
            <a:srgbClr val="E5F1FB"/>
          </a:solidFill>
          <a:ln w="20320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0" y="3758184"/>
            <a:ext cx="4709159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1F3A"/>
                </a:solidFill>
                <a:latin typeface="宋体" panose="02010600030101010101" pitchFamily="2" charset="-122"/>
              </a:rPr>
              <a:t>问题四第二问求解流程</a:t>
            </a:r>
            <a:endParaRPr sz="3000" b="1">
              <a:solidFill>
                <a:srgbClr val="0B1F3A"/>
              </a:solidFill>
              <a:latin typeface="宋体" panose="02010600030101010101" pitchFamily="2" charset="-122"/>
            </a:endParaRPr>
          </a:p>
        </p:txBody>
      </p:sp>
      <p:sp>
        <p:nvSpPr>
          <p:cNvPr id="41" name="Freeform 40"/>
          <p:cNvSpPr/>
          <p:nvPr/>
        </p:nvSpPr>
        <p:spPr>
          <a:xfrm>
            <a:off x="91440" y="4715012"/>
            <a:ext cx="1704289" cy="1597639"/>
          </a:xfrm>
          <a:custGeom>
            <a:avLst/>
            <a:gdLst/>
            <a:ahLst/>
            <a:cxnLst/>
            <a:rect l="l" t="t" r="r" b="b"/>
            <a:pathLst>
              <a:path w="1704289" h="1597639">
                <a:moveTo>
                  <a:pt x="0" y="0"/>
                </a:moveTo>
                <a:lnTo>
                  <a:pt x="1397517" y="0"/>
                </a:lnTo>
                <a:lnTo>
                  <a:pt x="1704289" y="798820"/>
                </a:lnTo>
                <a:lnTo>
                  <a:pt x="1397517" y="1597639"/>
                </a:lnTo>
                <a:lnTo>
                  <a:pt x="0" y="1597639"/>
                </a:lnTo>
                <a:lnTo>
                  <a:pt x="238600" y="798820"/>
                </a:lnTo>
                <a:close/>
              </a:path>
            </a:pathLst>
          </a:custGeom>
          <a:solidFill>
            <a:srgbClr val="EAF4FB"/>
          </a:solidFill>
          <a:ln w="17145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92708" y="4800600"/>
            <a:ext cx="301752" cy="301752"/>
          </a:xfrm>
          <a:prstGeom prst="ellipse">
            <a:avLst/>
          </a:prstGeom>
          <a:solidFill>
            <a:srgbClr val="5A8E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2708" y="4800600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1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74320" y="5286693"/>
            <a:ext cx="1292809" cy="1250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对齐多源信息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47675" y="5577840"/>
            <a:ext cx="1136650" cy="6407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整理负载、光伏发电功率、电价及预测更新时间信息。</a:t>
            </a:r>
            <a:endParaRPr lang="en-US"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46" name="Right Arrow 45"/>
          <p:cNvSpPr/>
          <p:nvPr/>
        </p:nvSpPr>
        <p:spPr>
          <a:xfrm>
            <a:off x="1850593" y="5340096"/>
            <a:ext cx="155448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152345" y="4715012"/>
            <a:ext cx="1704289" cy="1597639"/>
          </a:xfrm>
          <a:custGeom>
            <a:avLst/>
            <a:gdLst/>
            <a:ahLst/>
            <a:cxnLst/>
            <a:rect l="l" t="t" r="r" b="b"/>
            <a:pathLst>
              <a:path w="1704289" h="1597639">
                <a:moveTo>
                  <a:pt x="0" y="0"/>
                </a:moveTo>
                <a:lnTo>
                  <a:pt x="1397517" y="0"/>
                </a:lnTo>
                <a:lnTo>
                  <a:pt x="1704289" y="798820"/>
                </a:lnTo>
                <a:lnTo>
                  <a:pt x="1397517" y="1597639"/>
                </a:lnTo>
                <a:lnTo>
                  <a:pt x="0" y="1597639"/>
                </a:lnTo>
                <a:lnTo>
                  <a:pt x="238600" y="798820"/>
                </a:lnTo>
                <a:close/>
              </a:path>
            </a:pathLst>
          </a:custGeom>
          <a:solidFill>
            <a:srgbClr val="EEF9F7"/>
          </a:solidFill>
          <a:ln w="17145">
            <a:solidFill>
              <a:srgbClr val="25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853613" y="4800600"/>
            <a:ext cx="301752" cy="301752"/>
          </a:xfrm>
          <a:prstGeom prst="ellipse">
            <a:avLst/>
          </a:prstGeom>
          <a:solidFill>
            <a:srgbClr val="258A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53613" y="4800600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2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335225" y="5286693"/>
            <a:ext cx="1292809" cy="1250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生成0时初始计划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524125" y="5577840"/>
            <a:ext cx="1040130" cy="6407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基于问题四第一问方法，形成0时购电与储能方案。</a:t>
            </a:r>
            <a:endParaRPr lang="en-US"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52" name="Right Arrow 51"/>
          <p:cNvSpPr/>
          <p:nvPr/>
        </p:nvSpPr>
        <p:spPr>
          <a:xfrm>
            <a:off x="3911498" y="5340096"/>
            <a:ext cx="155448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4213250" y="4715012"/>
            <a:ext cx="1704289" cy="1597639"/>
          </a:xfrm>
          <a:custGeom>
            <a:avLst/>
            <a:gdLst/>
            <a:ahLst/>
            <a:cxnLst/>
            <a:rect l="l" t="t" r="r" b="b"/>
            <a:pathLst>
              <a:path w="1704289" h="1597639">
                <a:moveTo>
                  <a:pt x="0" y="0"/>
                </a:moveTo>
                <a:lnTo>
                  <a:pt x="1397517" y="0"/>
                </a:lnTo>
                <a:lnTo>
                  <a:pt x="1704289" y="798820"/>
                </a:lnTo>
                <a:lnTo>
                  <a:pt x="1397517" y="1597639"/>
                </a:lnTo>
                <a:lnTo>
                  <a:pt x="0" y="1597639"/>
                </a:lnTo>
                <a:lnTo>
                  <a:pt x="238600" y="798820"/>
                </a:lnTo>
                <a:close/>
              </a:path>
            </a:pathLst>
          </a:custGeom>
          <a:solidFill>
            <a:srgbClr val="EAF4FB"/>
          </a:solidFill>
          <a:ln w="17145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914519" y="4800600"/>
            <a:ext cx="301752" cy="301752"/>
          </a:xfrm>
          <a:prstGeom prst="ellipse">
            <a:avLst/>
          </a:prstGeom>
          <a:solidFill>
            <a:srgbClr val="5A8E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14519" y="4800600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3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396130" y="5286693"/>
            <a:ext cx="1292809" cy="1250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日内信息更新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531258" y="5577840"/>
            <a:ext cx="1109929" cy="6407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利用6时、12时和18时更新信息，修正后续购电计划。</a:t>
            </a:r>
            <a:endParaRPr lang="en-US"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58" name="Right Arrow 57"/>
          <p:cNvSpPr/>
          <p:nvPr/>
        </p:nvSpPr>
        <p:spPr>
          <a:xfrm>
            <a:off x="5972403" y="5340096"/>
            <a:ext cx="155448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6274155" y="4715012"/>
            <a:ext cx="1704289" cy="1597639"/>
          </a:xfrm>
          <a:custGeom>
            <a:avLst/>
            <a:gdLst/>
            <a:ahLst/>
            <a:cxnLst/>
            <a:rect l="l" t="t" r="r" b="b"/>
            <a:pathLst>
              <a:path w="1704289" h="1597639">
                <a:moveTo>
                  <a:pt x="0" y="0"/>
                </a:moveTo>
                <a:lnTo>
                  <a:pt x="1397517" y="0"/>
                </a:lnTo>
                <a:lnTo>
                  <a:pt x="1704289" y="798820"/>
                </a:lnTo>
                <a:lnTo>
                  <a:pt x="1397517" y="1597639"/>
                </a:lnTo>
                <a:lnTo>
                  <a:pt x="0" y="1597639"/>
                </a:lnTo>
                <a:lnTo>
                  <a:pt x="238601" y="798820"/>
                </a:lnTo>
                <a:close/>
              </a:path>
            </a:pathLst>
          </a:custGeom>
          <a:solidFill>
            <a:srgbClr val="EEF9F7"/>
          </a:solidFill>
          <a:ln w="17145">
            <a:solidFill>
              <a:srgbClr val="25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975424" y="4800600"/>
            <a:ext cx="301752" cy="301752"/>
          </a:xfrm>
          <a:prstGeom prst="ellipse">
            <a:avLst/>
          </a:prstGeom>
          <a:solidFill>
            <a:srgbClr val="258A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75424" y="4800600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4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445250" y="5253990"/>
            <a:ext cx="1449705" cy="1581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构建调整优化模型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635115" y="5577840"/>
            <a:ext cx="1068705" cy="6407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仅调整未执行时段，重新优化购电与储能安排。</a:t>
            </a:r>
            <a:endParaRPr lang="en-US"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64" name="Right Arrow 63"/>
          <p:cNvSpPr/>
          <p:nvPr/>
        </p:nvSpPr>
        <p:spPr>
          <a:xfrm>
            <a:off x="8033308" y="5340096"/>
            <a:ext cx="155448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335060" y="4715012"/>
            <a:ext cx="1704290" cy="1597639"/>
          </a:xfrm>
          <a:custGeom>
            <a:avLst/>
            <a:gdLst/>
            <a:ahLst/>
            <a:cxnLst/>
            <a:rect l="l" t="t" r="r" b="b"/>
            <a:pathLst>
              <a:path w="1704290" h="1597639">
                <a:moveTo>
                  <a:pt x="0" y="0"/>
                </a:moveTo>
                <a:lnTo>
                  <a:pt x="1397517" y="0"/>
                </a:lnTo>
                <a:lnTo>
                  <a:pt x="1704290" y="798820"/>
                </a:lnTo>
                <a:lnTo>
                  <a:pt x="1397517" y="1597639"/>
                </a:lnTo>
                <a:lnTo>
                  <a:pt x="0" y="1597639"/>
                </a:lnTo>
                <a:lnTo>
                  <a:pt x="238601" y="798820"/>
                </a:lnTo>
                <a:close/>
              </a:path>
            </a:pathLst>
          </a:custGeom>
          <a:solidFill>
            <a:srgbClr val="EAF4FB"/>
          </a:solidFill>
          <a:ln w="17145">
            <a:solidFill>
              <a:srgbClr val="2D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036329" y="4800600"/>
            <a:ext cx="301752" cy="301752"/>
          </a:xfrm>
          <a:prstGeom prst="ellipse">
            <a:avLst/>
          </a:prstGeom>
          <a:solidFill>
            <a:srgbClr val="5A8E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36329" y="4800600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5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540800" y="5286693"/>
            <a:ext cx="1292809" cy="1250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滚动执行与回放</a:t>
            </a:r>
            <a:endParaRPr sz="132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627745" y="5577840"/>
            <a:ext cx="1183005" cy="4851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执行调整方案，统计全天运行结果与费用变化。</a:t>
            </a:r>
            <a:endParaRPr lang="en-US"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70" name="Right Arrow 69"/>
          <p:cNvSpPr/>
          <p:nvPr/>
        </p:nvSpPr>
        <p:spPr>
          <a:xfrm>
            <a:off x="10094214" y="5340096"/>
            <a:ext cx="155448" cy="347472"/>
          </a:xfrm>
          <a:prstGeom prst="rightArrow">
            <a:avLst/>
          </a:prstGeom>
          <a:solidFill>
            <a:srgbClr val="5B97C5"/>
          </a:solidFill>
          <a:ln>
            <a:solidFill>
              <a:srgbClr val="5B9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0395965" y="4715012"/>
            <a:ext cx="1704290" cy="1597639"/>
          </a:xfrm>
          <a:custGeom>
            <a:avLst/>
            <a:gdLst/>
            <a:ahLst/>
            <a:cxnLst/>
            <a:rect l="l" t="t" r="r" b="b"/>
            <a:pathLst>
              <a:path w="1704290" h="1597639">
                <a:moveTo>
                  <a:pt x="0" y="0"/>
                </a:moveTo>
                <a:lnTo>
                  <a:pt x="1397518" y="0"/>
                </a:lnTo>
                <a:lnTo>
                  <a:pt x="1704290" y="798820"/>
                </a:lnTo>
                <a:lnTo>
                  <a:pt x="1397518" y="1597639"/>
                </a:lnTo>
                <a:lnTo>
                  <a:pt x="0" y="1597639"/>
                </a:lnTo>
                <a:lnTo>
                  <a:pt x="238601" y="798820"/>
                </a:lnTo>
                <a:close/>
              </a:path>
            </a:pathLst>
          </a:custGeom>
          <a:solidFill>
            <a:srgbClr val="EEF9F7"/>
          </a:solidFill>
          <a:ln w="17145">
            <a:solidFill>
              <a:srgbClr val="258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097234" y="4800600"/>
            <a:ext cx="301752" cy="301752"/>
          </a:xfrm>
          <a:prstGeom prst="ellipse">
            <a:avLst/>
          </a:prstGeom>
          <a:solidFill>
            <a:srgbClr val="258A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097234" y="4800600"/>
            <a:ext cx="3017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Times New Roman" panose="02020603050405020304"/>
              </a:rPr>
              <a:t>6</a:t>
            </a:r>
            <a:endParaRPr sz="125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578845" y="5286693"/>
            <a:ext cx="1292809" cy="1250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2543"/>
                </a:solidFill>
                <a:latin typeface="宋体" panose="02010600030101010101" pitchFamily="2" charset="-122"/>
              </a:rPr>
              <a:t>方案对比与验证</a:t>
            </a:r>
            <a:endParaRPr sz="1050" b="1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710545" y="5577840"/>
            <a:ext cx="1255395" cy="28067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300" b="0" dirty="0">
                <a:solidFill>
                  <a:srgbClr val="0B2543"/>
                </a:solidFill>
                <a:latin typeface="宋体" panose="02010600030101010101" pitchFamily="2" charset="-122"/>
              </a:rPr>
              <a:t>与0时初始计划比较，评价日内调整效果。</a:t>
            </a:r>
            <a:endParaRPr lang="en-US" sz="1300" b="0" dirty="0">
              <a:solidFill>
                <a:srgbClr val="0B2543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</Words>
  <Application>WPS 演示</Application>
  <PresentationFormat>宽屏</PresentationFormat>
  <Paragraphs>199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Arial</vt:lpstr>
      <vt:lpstr>Times New Roman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WPS_1678631666</cp:lastModifiedBy>
  <cp:revision>21</cp:revision>
  <dcterms:created xsi:type="dcterms:W3CDTF">2013-01-27T09:14:00Z</dcterms:created>
  <dcterms:modified xsi:type="dcterms:W3CDTF">2026-09-13T04:33:18Z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BF654DF83F0640A3A112637FA700421D_13</vt:lpwstr>
  </property>
</Properties>
</file>