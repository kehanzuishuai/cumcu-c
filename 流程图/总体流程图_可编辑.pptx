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4001750" cy="1034415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依据用户提供的参考图逐项重建；所有文本、框线、节点与箭头均为可编辑的 PowerPoint 原生对象。参考图：ChatGPT Image 2026年9月11日 22_25_05.png。比例与配色按原图复刻。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8000">
              <a:srgbClr val="FCFDFF"/>
            </a:gs>
            <a:gs pos="100000">
              <a:srgbClr val="F2F6FD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14300" y="695325"/>
            <a:ext cx="8305800" cy="2495550"/>
          </a:xfrm>
          <a:prstGeom prst="rect">
            <a:avLst/>
          </a:prstGeom>
          <a:noFill/>
          <a:ln w="19050">
            <a:solidFill>
              <a:srgbClr val="0A1837"/>
            </a:solidFill>
            <a:prstDash val="dash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257175" y="781050"/>
            <a:ext cx="5464810" cy="42862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5F3FF"/>
              </a:gs>
              <a:gs pos="100000">
                <a:srgbClr val="D9D7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57200" y="933450"/>
            <a:ext cx="266700" cy="238125"/>
          </a:xfrm>
          <a:prstGeom prst="rect">
            <a:avLst/>
          </a:prstGeom>
          <a:solidFill>
            <a:srgbClr val="515A9E"/>
          </a:solidFill>
          <a:ln w="0">
            <a:solidFill>
              <a:srgbClr val="515A9E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457200" y="895350"/>
            <a:ext cx="266700" cy="95250"/>
          </a:xfrm>
          <a:prstGeom prst="ellipse">
            <a:avLst/>
          </a:prstGeom>
          <a:solidFill>
            <a:srgbClr val="515A9E"/>
          </a:solidFill>
          <a:ln w="0">
            <a:solidFill>
              <a:srgbClr val="515A9E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457200" y="957580"/>
            <a:ext cx="266700" cy="76200"/>
          </a:xfrm>
          <a:prstGeom prst="ellipse">
            <a:avLst/>
          </a:prstGeom>
          <a:noFill/>
          <a:ln w="11430">
            <a:solidFill>
              <a:srgbClr val="DADCF8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457200" y="1076325"/>
            <a:ext cx="266700" cy="76200"/>
          </a:xfrm>
          <a:prstGeom prst="ellipse">
            <a:avLst/>
          </a:prstGeom>
          <a:noFill/>
          <a:ln w="11430">
            <a:solidFill>
              <a:srgbClr val="DADCF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25500" y="800100"/>
            <a:ext cx="48958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Autofit/>
          </a:bodyPr>
          <a:lstStyle/>
          <a:p>
            <a:pPr algn="l">
              <a:lnSpc>
                <a:spcPct val="92000"/>
              </a:lnSpc>
              <a:buClrTx/>
              <a:buSzTx/>
              <a:buFontTx/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00" b="1">
                <a:solidFill>
                  <a:srgbClr val="0B1E45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基础准备与问题一：已知条件下的购电与储能安排</a:t>
            </a:r>
            <a:endParaRPr sz="1700" b="1">
              <a:solidFill>
                <a:srgbClr val="0B1E45"/>
              </a:solidFill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7175" y="1352550"/>
            <a:ext cx="1343025" cy="7143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附件数据读取与质量检查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00225" y="1352550"/>
            <a:ext cx="1543050" cy="7143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时间对齐与
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分钟电量换算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43300" y="1352550"/>
            <a:ext cx="1495425" cy="7143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功率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电量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费用
口径统一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48275" y="1352550"/>
            <a:ext cx="1219200" cy="7143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供需平衡
与约束提取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7175" y="2257425"/>
            <a:ext cx="1343025" cy="6953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已知负载、
光伏</a:t>
            </a:r>
            <a:r>
              <a:rPr lang="zh-CN"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</a:t>
            </a: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电价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00225" y="2257425"/>
            <a:ext cx="1476375" cy="6953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先降低购电费用再减少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不必要的充放电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86150" y="2257425"/>
            <a:ext cx="1543050" cy="6953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购电计划与储能
充放电安排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29225" y="2257425"/>
            <a:ext cx="1219200" cy="6953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无储能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基准对比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1600200" y="1571625"/>
            <a:ext cx="200025" cy="2667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8" name="右箭头 17"/>
          <p:cNvSpPr>
            <a:spLocks noGrp="1"/>
          </p:cNvSpPr>
          <p:nvPr/>
        </p:nvSpPr>
        <p:spPr>
          <a:xfrm>
            <a:off x="3343275" y="1571625"/>
            <a:ext cx="200025" cy="2667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5038725" y="1571625"/>
            <a:ext cx="200025" cy="2667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1600200" y="246697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3276600" y="246697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5029200" y="246697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23" name="右箭头 22"/>
          <p:cNvSpPr>
            <a:spLocks noGrp="1"/>
          </p:cNvSpPr>
          <p:nvPr/>
        </p:nvSpPr>
        <p:spPr>
          <a:xfrm>
            <a:off x="6448425" y="2466975"/>
            <a:ext cx="3143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762750" y="2167255"/>
            <a:ext cx="1371600" cy="876300"/>
          </a:xfrm>
          <a:prstGeom prst="roundRect">
            <a:avLst>
              <a:gd name="adj" fmla="val 4348"/>
            </a:avLst>
          </a:prstGeom>
          <a:gradFill>
            <a:gsLst>
              <a:gs pos="0">
                <a:srgbClr val="F0EFFF"/>
              </a:gs>
              <a:gs pos="100000">
                <a:srgbClr val="D6D4FA"/>
              </a:gs>
            </a:gsLst>
            <a:lin ang="5400000"/>
          </a:gradFill>
          <a:ln w="11906">
            <a:solidFill>
              <a:srgbClr val="515A9E"/>
            </a:solidFill>
            <a:prstDash val="solid"/>
          </a:ln>
        </p:spPr>
        <p:txBody>
          <a:bodyPr wrap="square" lIns="133350" tIns="38100" rIns="57150" bIns="38100" anchor="ctr">
            <a:normAutofit lnSpcReduction="10000"/>
          </a:bodyPr>
          <a:lstStyle/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得到：</a:t>
            </a:r>
            <a:endParaRPr sz="15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问题一购电与储能方案</a:t>
            </a:r>
            <a:endParaRPr sz="15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下箭头 24"/>
          <p:cNvSpPr>
            <a:spLocks noGrp="1"/>
          </p:cNvSpPr>
          <p:nvPr/>
        </p:nvSpPr>
        <p:spPr>
          <a:xfrm>
            <a:off x="4010025" y="3181350"/>
            <a:ext cx="352425" cy="295275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4300" y="3448050"/>
            <a:ext cx="7715250" cy="2276475"/>
          </a:xfrm>
          <a:prstGeom prst="rect">
            <a:avLst/>
          </a:prstGeom>
          <a:noFill/>
          <a:ln w="19050">
            <a:solidFill>
              <a:srgbClr val="0A1837"/>
            </a:solidFill>
            <a:prstDash val="dash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57175" y="3552825"/>
            <a:ext cx="4000500" cy="42862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5F3FF"/>
              </a:gs>
              <a:gs pos="100000">
                <a:srgbClr val="D9D7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38150" y="3810000"/>
            <a:ext cx="76200" cy="133350"/>
          </a:xfrm>
          <a:prstGeom prst="rect">
            <a:avLst/>
          </a:prstGeom>
          <a:solidFill>
            <a:srgbClr val="515A9E"/>
          </a:solidFill>
          <a:ln w="0">
            <a:solidFill>
              <a:srgbClr val="515A9E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3724275"/>
            <a:ext cx="76200" cy="219075"/>
          </a:xfrm>
          <a:prstGeom prst="rect">
            <a:avLst/>
          </a:prstGeom>
          <a:solidFill>
            <a:srgbClr val="515A9E"/>
          </a:solidFill>
          <a:ln w="0">
            <a:solidFill>
              <a:srgbClr val="515A9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3648075"/>
            <a:ext cx="76200" cy="295275"/>
          </a:xfrm>
          <a:prstGeom prst="rect">
            <a:avLst/>
          </a:prstGeom>
          <a:solidFill>
            <a:srgbClr val="515A9E"/>
          </a:solidFill>
          <a:ln w="0">
            <a:solidFill>
              <a:srgbClr val="515A9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62025" y="3571875"/>
            <a:ext cx="3238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 fontScale="80000"/>
          </a:bodyPr>
          <a:lstStyle/>
          <a:p>
            <a:pPr algn="l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00" b="1">
                <a:solidFill>
                  <a:srgbClr val="0B1E45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问题二：考虑预测误差的购电计划</a:t>
            </a:r>
            <a:endParaRPr sz="2000" b="1">
              <a:solidFill>
                <a:srgbClr val="0B1E45"/>
              </a:solidFill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57175" y="4229100"/>
            <a:ext cx="1038225" cy="7905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同星期
负载预测</a:t>
            </a:r>
            <a:endParaRPr sz="13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495425" y="4229100"/>
            <a:ext cx="876300" cy="7905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 lnSpcReduction="10000"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近5日
光伏</a:t>
            </a:r>
            <a:r>
              <a:rPr lang="zh-CN"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</a:t>
            </a:r>
            <a:endParaRPr sz="13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562225" y="4229100"/>
            <a:ext cx="1209675" cy="7905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历史残差
</a:t>
            </a: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80%</a:t>
            </a: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分位修正</a:t>
            </a:r>
            <a:endParaRPr sz="13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971925" y="4229100"/>
            <a:ext cx="1123950" cy="7905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 lnSpcReduction="10000"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48小时
滚动购电</a:t>
            </a:r>
            <a:endParaRPr sz="13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与储能优化</a:t>
            </a:r>
            <a:endParaRPr sz="13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278755" y="4229100"/>
            <a:ext cx="1109980" cy="7905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紧急购电与费用构成</a:t>
            </a:r>
            <a:r>
              <a:rPr lang="zh-CN"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</a:t>
            </a:r>
            <a:r>
              <a:rPr sz="13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析</a:t>
            </a:r>
            <a:endParaRPr sz="13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1295400" y="446722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38" name="右箭头 37"/>
          <p:cNvSpPr>
            <a:spLocks noGrp="1"/>
          </p:cNvSpPr>
          <p:nvPr/>
        </p:nvSpPr>
        <p:spPr>
          <a:xfrm>
            <a:off x="2371725" y="446722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39" name="右箭头 38"/>
          <p:cNvSpPr>
            <a:spLocks noGrp="1"/>
          </p:cNvSpPr>
          <p:nvPr/>
        </p:nvSpPr>
        <p:spPr>
          <a:xfrm>
            <a:off x="3771900" y="446722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40" name="右箭头 39"/>
          <p:cNvSpPr>
            <a:spLocks noGrp="1"/>
          </p:cNvSpPr>
          <p:nvPr/>
        </p:nvSpPr>
        <p:spPr>
          <a:xfrm>
            <a:off x="5086350" y="4467225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6588760" y="4219575"/>
            <a:ext cx="1116965" cy="91440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F0EFFF"/>
              </a:gs>
              <a:gs pos="100000">
                <a:srgbClr val="D6D4FA"/>
              </a:gs>
            </a:gsLst>
            <a:lin ang="5400000"/>
          </a:gradFill>
          <a:ln w="11906">
            <a:solidFill>
              <a:srgbClr val="515A9E"/>
            </a:solidFill>
            <a:prstDash val="solid"/>
          </a:ln>
        </p:spPr>
        <p:txBody>
          <a:bodyPr wrap="square" lIns="133350" tIns="38100" rIns="57150" bIns="38100" anchor="ctr">
            <a:normAutofit/>
          </a:bodyPr>
          <a:lstStyle/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得到：</a:t>
            </a:r>
            <a:endParaRPr sz="14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全年购电</a:t>
            </a:r>
            <a:endParaRPr sz="14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计划与费用</a:t>
            </a:r>
            <a:endParaRPr sz="14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57175" y="5210175"/>
            <a:ext cx="7448550" cy="38100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主要目的：降低预测误差造成的紧急购电</a:t>
            </a:r>
            <a:endParaRPr sz="15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下箭头 43"/>
          <p:cNvSpPr>
            <a:spLocks noGrp="1"/>
          </p:cNvSpPr>
          <p:nvPr/>
        </p:nvSpPr>
        <p:spPr>
          <a:xfrm>
            <a:off x="4010025" y="5715000"/>
            <a:ext cx="352425" cy="323850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924925" y="3448050"/>
            <a:ext cx="4772025" cy="2276475"/>
          </a:xfrm>
          <a:prstGeom prst="rect">
            <a:avLst/>
          </a:prstGeom>
          <a:noFill/>
          <a:ln w="19050">
            <a:solidFill>
              <a:srgbClr val="0A1837"/>
            </a:solidFill>
            <a:prstDash val="dash"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9048750" y="3552825"/>
            <a:ext cx="4524375" cy="42862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5F3FF"/>
              </a:gs>
              <a:gs pos="100000">
                <a:srgbClr val="D9D7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220200" y="3638550"/>
            <a:ext cx="9525" cy="323850"/>
          </a:xfrm>
          <a:prstGeom prst="line">
            <a:avLst/>
          </a:prstGeom>
          <a:noFill/>
          <a:ln w="19050">
            <a:solidFill>
              <a:srgbClr val="515A9E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220200" y="3952875"/>
            <a:ext cx="342900" cy="9525"/>
          </a:xfrm>
          <a:prstGeom prst="line">
            <a:avLst/>
          </a:prstGeom>
          <a:noFill/>
          <a:ln w="19050">
            <a:solidFill>
              <a:srgbClr val="515A9E"/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 flipV="1">
            <a:off x="9258300" y="3752850"/>
            <a:ext cx="95250" cy="95250"/>
          </a:xfrm>
          <a:prstGeom prst="line">
            <a:avLst/>
          </a:prstGeom>
          <a:noFill/>
          <a:ln w="23813">
            <a:solidFill>
              <a:srgbClr val="515A9E"/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9353550" y="3752850"/>
            <a:ext cx="95250" cy="66675"/>
          </a:xfrm>
          <a:prstGeom prst="line">
            <a:avLst/>
          </a:prstGeom>
          <a:noFill/>
          <a:ln w="23813">
            <a:solidFill>
              <a:srgbClr val="515A9E"/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 flipV="1">
            <a:off x="9448800" y="3686175"/>
            <a:ext cx="95250" cy="133350"/>
          </a:xfrm>
          <a:prstGeom prst="line">
            <a:avLst/>
          </a:prstGeom>
          <a:noFill/>
          <a:ln w="23813">
            <a:solidFill>
              <a:srgbClr val="515A9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753600" y="3571875"/>
            <a:ext cx="37623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l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8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问题四</a:t>
            </a:r>
            <a:r>
              <a:rPr lang="en-US" sz="178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-2</a:t>
            </a:r>
            <a:r>
              <a:rPr sz="178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：波动电价下的问题二扩展</a:t>
            </a:r>
            <a:endParaRPr sz="1780" b="1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048750" y="4124325"/>
            <a:ext cx="981075" cy="9620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历史同星期
价格预测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248900" y="4124325"/>
            <a:ext cx="1057275" cy="9620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按预测电价
优化购电
与储能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1487150" y="4124325"/>
            <a:ext cx="876300" cy="9620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实际价格
结算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2544425" y="4124325"/>
            <a:ext cx="1028700" cy="9620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与问题二原策略重新计费结果对比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右箭头 56"/>
          <p:cNvSpPr>
            <a:spLocks noGrp="1"/>
          </p:cNvSpPr>
          <p:nvPr/>
        </p:nvSpPr>
        <p:spPr>
          <a:xfrm>
            <a:off x="10029825" y="4467225"/>
            <a:ext cx="219075" cy="2667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58" name="右箭头 57"/>
          <p:cNvSpPr>
            <a:spLocks noGrp="1"/>
          </p:cNvSpPr>
          <p:nvPr/>
        </p:nvSpPr>
        <p:spPr>
          <a:xfrm>
            <a:off x="11306175" y="4467225"/>
            <a:ext cx="219075" cy="2667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59" name="右箭头 58"/>
          <p:cNvSpPr>
            <a:spLocks noGrp="1"/>
          </p:cNvSpPr>
          <p:nvPr/>
        </p:nvSpPr>
        <p:spPr>
          <a:xfrm>
            <a:off x="12363450" y="4467225"/>
            <a:ext cx="219075" cy="2667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9048750" y="5219700"/>
            <a:ext cx="4524375" cy="371475"/>
          </a:xfrm>
          <a:prstGeom prst="roundRect">
            <a:avLst>
              <a:gd name="adj" fmla="val 10256"/>
            </a:avLst>
          </a:prstGeom>
          <a:gradFill>
            <a:gsLst>
              <a:gs pos="0">
                <a:srgbClr val="F0EFFF"/>
              </a:gs>
              <a:gs pos="100000">
                <a:srgbClr val="D6D4FA"/>
              </a:gs>
            </a:gsLst>
            <a:lin ang="5400000"/>
          </a:gradFill>
          <a:ln w="11906">
            <a:solidFill>
              <a:srgbClr val="515A9E"/>
            </a:solidFill>
            <a:prstDash val="solid"/>
          </a:ln>
        </p:spPr>
        <p:txBody>
          <a:bodyPr wrap="square" lIns="133350" tIns="38100" rIns="57150" bIns="38100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得到：费用与紧急购电结果</a:t>
            </a:r>
            <a:endParaRPr sz="145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下箭头 60"/>
          <p:cNvSpPr>
            <a:spLocks noGrp="1"/>
          </p:cNvSpPr>
          <p:nvPr/>
        </p:nvSpPr>
        <p:spPr>
          <a:xfrm>
            <a:off x="11334750" y="5715000"/>
            <a:ext cx="352425" cy="323850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62" name="右箭头 61"/>
          <p:cNvSpPr>
            <a:spLocks noGrp="1"/>
          </p:cNvSpPr>
          <p:nvPr/>
        </p:nvSpPr>
        <p:spPr>
          <a:xfrm>
            <a:off x="7772400" y="4076700"/>
            <a:ext cx="1238250" cy="12954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810500" y="4286250"/>
            <a:ext cx="1028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5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固定电价
→波动电价</a:t>
            </a:r>
            <a:endParaRPr sz="1250" b="1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14300" y="6048375"/>
            <a:ext cx="7715250" cy="2371725"/>
          </a:xfrm>
          <a:prstGeom prst="rect">
            <a:avLst/>
          </a:prstGeom>
          <a:noFill/>
          <a:ln w="19050">
            <a:solidFill>
              <a:srgbClr val="0A1837"/>
            </a:solidFill>
            <a:prstDash val="dash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257175" y="6162675"/>
            <a:ext cx="3857625" cy="42862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5F3FF"/>
              </a:gs>
              <a:gs pos="100000">
                <a:srgbClr val="D9D7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66" name="形状 65"/>
          <p:cNvSpPr>
            <a:spLocks noGrp="1"/>
          </p:cNvSpPr>
          <p:nvPr/>
        </p:nvSpPr>
        <p:spPr>
          <a:xfrm>
            <a:off x="419100" y="6238875"/>
            <a:ext cx="342900" cy="342900"/>
          </a:xfrm>
          <a:prstGeom prst="gear6">
            <a:avLst/>
          </a:prstGeom>
          <a:solidFill>
            <a:srgbClr val="515A9E"/>
          </a:solidFill>
          <a:ln w="4763">
            <a:solidFill>
              <a:srgbClr val="515A9E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62025" y="6181725"/>
            <a:ext cx="30956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 fontScale="80000"/>
          </a:bodyPr>
          <a:lstStyle/>
          <a:p>
            <a:pPr algn="l">
              <a:lnSpc>
                <a:spcPct val="92000"/>
              </a:lnSpc>
              <a:buClrTx/>
              <a:buSzTx/>
              <a:buFontTx/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00">
                <a:solidFill>
                  <a:srgbClr val="0B1E45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问题三：日内预报更新与计划调整</a:t>
            </a:r>
            <a:endParaRPr sz="2000">
              <a:solidFill>
                <a:srgbClr val="0B1E45"/>
              </a:solidFill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257175" y="6838950"/>
            <a:ext cx="1009650" cy="83820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0:00 制定
初始计划</a:t>
            </a:r>
            <a:endParaRPr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1438275" y="6838950"/>
            <a:ext cx="1009650" cy="83820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18时
</a:t>
            </a:r>
            <a:r>
              <a:rPr lang="zh-CN"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读取新信息</a:t>
            </a:r>
            <a:endParaRPr lang="zh-CN"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628900" y="6838950"/>
            <a:ext cx="904875" cy="83820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lang="zh-CN"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更新</a:t>
            </a:r>
            <a:endParaRPr lang="zh-CN"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光伏预报</a:t>
            </a:r>
            <a:endParaRPr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3705225" y="6838950"/>
            <a:ext cx="1123950" cy="83820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已观测负载</a:t>
            </a:r>
            <a:endParaRPr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与实际储电量</a:t>
            </a:r>
            <a:endParaRPr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010150" y="6838950"/>
            <a:ext cx="1276350" cy="83820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调整尚未执行的购电计划</a:t>
            </a:r>
            <a:endParaRPr sz="13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右箭头 72"/>
          <p:cNvSpPr>
            <a:spLocks noGrp="1"/>
          </p:cNvSpPr>
          <p:nvPr/>
        </p:nvSpPr>
        <p:spPr>
          <a:xfrm>
            <a:off x="1266825" y="71247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74" name="右箭头 73"/>
          <p:cNvSpPr>
            <a:spLocks noGrp="1"/>
          </p:cNvSpPr>
          <p:nvPr/>
        </p:nvSpPr>
        <p:spPr>
          <a:xfrm>
            <a:off x="2447925" y="71247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75" name="右箭头 74"/>
          <p:cNvSpPr>
            <a:spLocks noGrp="1"/>
          </p:cNvSpPr>
          <p:nvPr/>
        </p:nvSpPr>
        <p:spPr>
          <a:xfrm>
            <a:off x="3533775" y="71247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76" name="右箭头 75"/>
          <p:cNvSpPr>
            <a:spLocks noGrp="1"/>
          </p:cNvSpPr>
          <p:nvPr/>
        </p:nvSpPr>
        <p:spPr>
          <a:xfrm>
            <a:off x="4829175" y="71247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77" name="右箭头 76"/>
          <p:cNvSpPr>
            <a:spLocks noGrp="1"/>
          </p:cNvSpPr>
          <p:nvPr/>
        </p:nvSpPr>
        <p:spPr>
          <a:xfrm>
            <a:off x="6286500" y="71247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6515100" y="6829425"/>
            <a:ext cx="1190625" cy="962025"/>
          </a:xfrm>
          <a:prstGeom prst="roundRect">
            <a:avLst>
              <a:gd name="adj" fmla="val 3960"/>
            </a:avLst>
          </a:prstGeom>
          <a:gradFill>
            <a:gsLst>
              <a:gs pos="0">
                <a:srgbClr val="F0EFFF"/>
              </a:gs>
              <a:gs pos="100000">
                <a:srgbClr val="D6D4FA"/>
              </a:gs>
            </a:gsLst>
            <a:lin ang="5400000"/>
          </a:gradFill>
          <a:ln w="11906">
            <a:solidFill>
              <a:srgbClr val="515A9E"/>
            </a:solidFill>
            <a:prstDash val="solid"/>
          </a:ln>
        </p:spPr>
        <p:txBody>
          <a:bodyPr wrap="square" lIns="133350" tIns="38100" rIns="57150" bIns="38100" anchor="ctr">
            <a:normAutofit/>
          </a:bodyPr>
          <a:lstStyle/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得到：</a:t>
            </a:r>
            <a:endParaRPr sz="14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日内调整后的购电方案</a:t>
            </a:r>
            <a:endParaRPr sz="14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257175" y="7848600"/>
            <a:ext cx="7448550" cy="40957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主要目的：利用日内新信息及时修正后续计划</a:t>
            </a:r>
            <a:endParaRPr sz="150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8924925" y="6048375"/>
            <a:ext cx="4772025" cy="2371725"/>
          </a:xfrm>
          <a:prstGeom prst="rect">
            <a:avLst/>
          </a:prstGeom>
          <a:noFill/>
          <a:ln w="19050">
            <a:solidFill>
              <a:srgbClr val="0A1837"/>
            </a:solidFill>
            <a:prstDash val="dash"/>
          </a:ln>
        </p:spPr>
      </p:sp>
      <p:sp>
        <p:nvSpPr>
          <p:cNvPr id="81" name="圆角矩形 80"/>
          <p:cNvSpPr>
            <a:spLocks noGrp="1"/>
          </p:cNvSpPr>
          <p:nvPr/>
        </p:nvSpPr>
        <p:spPr>
          <a:xfrm>
            <a:off x="9048750" y="6162675"/>
            <a:ext cx="4524375" cy="42862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5F3FF"/>
              </a:gs>
              <a:gs pos="100000">
                <a:srgbClr val="D9D7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9220200" y="6248400"/>
            <a:ext cx="9525" cy="323850"/>
          </a:xfrm>
          <a:prstGeom prst="line">
            <a:avLst/>
          </a:prstGeom>
          <a:noFill/>
          <a:ln w="19050">
            <a:solidFill>
              <a:srgbClr val="515A9E"/>
            </a:solidFill>
            <a:prstDash val="solid"/>
          </a:ln>
        </p:spPr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9220200" y="6562725"/>
            <a:ext cx="342900" cy="9525"/>
          </a:xfrm>
          <a:prstGeom prst="line">
            <a:avLst/>
          </a:prstGeom>
          <a:noFill/>
          <a:ln w="19050">
            <a:solidFill>
              <a:srgbClr val="515A9E"/>
            </a:solidFill>
            <a:prstDash val="solid"/>
          </a:ln>
        </p:spPr>
      </p:sp>
      <p:sp>
        <p:nvSpPr>
          <p:cNvPr id="84" name="直接连接符 83"/>
          <p:cNvSpPr>
            <a:spLocks noGrp="1"/>
          </p:cNvSpPr>
          <p:nvPr/>
        </p:nvSpPr>
        <p:spPr>
          <a:xfrm flipV="1">
            <a:off x="9258300" y="6362700"/>
            <a:ext cx="95250" cy="95250"/>
          </a:xfrm>
          <a:prstGeom prst="line">
            <a:avLst/>
          </a:prstGeom>
          <a:noFill/>
          <a:ln w="23813">
            <a:solidFill>
              <a:srgbClr val="515A9E"/>
            </a:solidFill>
            <a:prstDash val="solid"/>
          </a:ln>
        </p:spPr>
      </p:sp>
      <p:sp>
        <p:nvSpPr>
          <p:cNvPr id="85" name="直接连接符 84"/>
          <p:cNvSpPr>
            <a:spLocks noGrp="1"/>
          </p:cNvSpPr>
          <p:nvPr/>
        </p:nvSpPr>
        <p:spPr>
          <a:xfrm>
            <a:off x="9353550" y="6362700"/>
            <a:ext cx="95250" cy="66675"/>
          </a:xfrm>
          <a:prstGeom prst="line">
            <a:avLst/>
          </a:prstGeom>
          <a:noFill/>
          <a:ln w="23813">
            <a:solidFill>
              <a:srgbClr val="515A9E"/>
            </a:solidFill>
            <a:prstDash val="solid"/>
          </a:ln>
        </p:spPr>
      </p:sp>
      <p:sp>
        <p:nvSpPr>
          <p:cNvPr id="86" name="直接连接符 85"/>
          <p:cNvSpPr>
            <a:spLocks noGrp="1"/>
          </p:cNvSpPr>
          <p:nvPr/>
        </p:nvSpPr>
        <p:spPr>
          <a:xfrm flipV="1">
            <a:off x="9448800" y="6296025"/>
            <a:ext cx="95250" cy="133350"/>
          </a:xfrm>
          <a:prstGeom prst="line">
            <a:avLst/>
          </a:prstGeom>
          <a:noFill/>
          <a:ln w="23813">
            <a:solidFill>
              <a:srgbClr val="515A9E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9753600" y="6181725"/>
            <a:ext cx="37623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l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50">
                <a:sym typeface="+mn-ea"/>
              </a:rPr>
              <a:t>问题四</a:t>
            </a:r>
            <a:r>
              <a:rPr lang="en-US" sz="1750">
                <a:sym typeface="+mn-ea"/>
              </a:rPr>
              <a:t>-3</a:t>
            </a:r>
            <a:r>
              <a:rPr sz="1750">
                <a:sym typeface="+mn-ea"/>
              </a:rPr>
              <a:t>：</a:t>
            </a:r>
            <a:r>
              <a:rPr sz="175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波动电价下的问题三扩展</a:t>
            </a:r>
            <a:endParaRPr sz="1750" b="1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9049385" y="6791325"/>
            <a:ext cx="980440" cy="10001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0:00</a:t>
            </a:r>
            <a:endParaRPr sz="12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</a:t>
            </a:r>
            <a:r>
              <a:rPr lang="zh-CN" sz="12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电价</a:t>
            </a:r>
            <a:endParaRPr sz="12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8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并制定计划</a:t>
            </a:r>
            <a:endParaRPr sz="128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10191750" y="6791325"/>
            <a:ext cx="1200150" cy="10001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6/12/18时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更新日内信息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价格预测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保持0时结果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487150" y="6791325"/>
            <a:ext cx="953135" cy="10001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重新安排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尚未执行的购电计划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2611100" y="6791325"/>
            <a:ext cx="962025" cy="1000125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按实际电价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计算费用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并与问题三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原策略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2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比较费用</a:t>
            </a:r>
            <a:endParaRPr sz="132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" name="右箭头 91"/>
          <p:cNvSpPr>
            <a:spLocks noGrp="1"/>
          </p:cNvSpPr>
          <p:nvPr/>
        </p:nvSpPr>
        <p:spPr>
          <a:xfrm>
            <a:off x="10020300" y="71628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93" name="右箭头 92"/>
          <p:cNvSpPr>
            <a:spLocks noGrp="1"/>
          </p:cNvSpPr>
          <p:nvPr/>
        </p:nvSpPr>
        <p:spPr>
          <a:xfrm>
            <a:off x="11391900" y="71628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94" name="右箭头 93"/>
          <p:cNvSpPr>
            <a:spLocks noGrp="1"/>
          </p:cNvSpPr>
          <p:nvPr/>
        </p:nvSpPr>
        <p:spPr>
          <a:xfrm>
            <a:off x="12439650" y="7162800"/>
            <a:ext cx="17145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95" name="圆角矩形 94"/>
          <p:cNvSpPr>
            <a:spLocks noGrp="1"/>
          </p:cNvSpPr>
          <p:nvPr/>
        </p:nvSpPr>
        <p:spPr>
          <a:xfrm>
            <a:off x="9048750" y="7905750"/>
            <a:ext cx="4524375" cy="361950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F0EFFF"/>
              </a:gs>
              <a:gs pos="100000">
                <a:srgbClr val="D6D4FA"/>
              </a:gs>
            </a:gsLst>
            <a:lin ang="5400000"/>
          </a:gradFill>
          <a:ln w="11906">
            <a:solidFill>
              <a:srgbClr val="515A9E"/>
            </a:solidFill>
            <a:prstDash val="solid"/>
          </a:ln>
        </p:spPr>
        <p:txBody>
          <a:bodyPr wrap="square" lIns="133350" tIns="38100" rIns="57150" bIns="38100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得到：费用与紧急购电结果</a:t>
            </a:r>
            <a:endParaRPr sz="14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6" name="右箭头 95"/>
          <p:cNvSpPr>
            <a:spLocks noGrp="1"/>
          </p:cNvSpPr>
          <p:nvPr/>
        </p:nvSpPr>
        <p:spPr>
          <a:xfrm>
            <a:off x="7772400" y="6677025"/>
            <a:ext cx="1238250" cy="129540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7810500" y="6886575"/>
            <a:ext cx="1028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9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固定电价</a:t>
            </a:r>
            <a:r>
              <a:rPr lang="en-US" sz="119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9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sz="1190"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
日内更新
→波动电价</a:t>
            </a:r>
            <a:endParaRPr sz="1190" b="1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8" name="下箭头 97"/>
          <p:cNvSpPr>
            <a:spLocks noGrp="1"/>
          </p:cNvSpPr>
          <p:nvPr/>
        </p:nvSpPr>
        <p:spPr>
          <a:xfrm>
            <a:off x="1571625" y="8420100"/>
            <a:ext cx="361950" cy="352425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99" name="下箭头 98"/>
          <p:cNvSpPr>
            <a:spLocks noGrp="1"/>
          </p:cNvSpPr>
          <p:nvPr/>
        </p:nvSpPr>
        <p:spPr>
          <a:xfrm>
            <a:off x="4391025" y="8420100"/>
            <a:ext cx="361950" cy="352425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00" name="下箭头 99"/>
          <p:cNvSpPr>
            <a:spLocks noGrp="1"/>
          </p:cNvSpPr>
          <p:nvPr/>
        </p:nvSpPr>
        <p:spPr>
          <a:xfrm>
            <a:off x="6629400" y="8420100"/>
            <a:ext cx="361950" cy="352425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01" name="下箭头 100"/>
          <p:cNvSpPr>
            <a:spLocks noGrp="1"/>
          </p:cNvSpPr>
          <p:nvPr/>
        </p:nvSpPr>
        <p:spPr>
          <a:xfrm>
            <a:off x="9277350" y="8420100"/>
            <a:ext cx="361950" cy="352425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02" name="下箭头 101"/>
          <p:cNvSpPr>
            <a:spLocks noGrp="1"/>
          </p:cNvSpPr>
          <p:nvPr/>
        </p:nvSpPr>
        <p:spPr>
          <a:xfrm>
            <a:off x="11934825" y="8420100"/>
            <a:ext cx="361950" cy="352425"/>
          </a:xfrm>
          <a:prstGeom prst="down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14300" y="8782050"/>
            <a:ext cx="13582650" cy="1209675"/>
          </a:xfrm>
          <a:prstGeom prst="rect">
            <a:avLst/>
          </a:prstGeom>
          <a:noFill/>
          <a:ln w="19050">
            <a:solidFill>
              <a:srgbClr val="0A1837"/>
            </a:solidFill>
            <a:prstDash val="dash"/>
          </a:ln>
        </p:spPr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257175" y="8867775"/>
            <a:ext cx="3600450" cy="428625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F5F3FF"/>
              </a:gs>
              <a:gs pos="100000">
                <a:srgbClr val="D9D7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447675" y="8953500"/>
            <a:ext cx="276225" cy="333375"/>
          </a:xfrm>
          <a:prstGeom prst="roundRect">
            <a:avLst>
              <a:gd name="adj" fmla="val 3448"/>
            </a:avLst>
          </a:prstGeom>
          <a:solidFill>
            <a:srgbClr val="515A9E"/>
          </a:solidFill>
          <a:ln w="0">
            <a:solidFill>
              <a:srgbClr val="515A9E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514350" y="9067800"/>
            <a:ext cx="1524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514350" y="9134475"/>
            <a:ext cx="1524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514350" y="9201150"/>
            <a:ext cx="152400" cy="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962025" y="8886825"/>
            <a:ext cx="28384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ctr">
            <a:normAutofit/>
          </a:bodyPr>
          <a:lstStyle/>
          <a:p>
            <a:pPr algn="l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00" b="1">
                <a:solidFill>
                  <a:srgbClr val="0B1E45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统一验证与论文输出</a:t>
            </a:r>
            <a:endParaRPr sz="1900" b="1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257175" y="9344025"/>
            <a:ext cx="2047875" cy="51435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供需平衡</a:t>
            </a:r>
            <a:r>
              <a:rPr lang="zh-CN"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检查</a:t>
            </a:r>
            <a:endParaRPr lang="zh-CN" sz="15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2609850" y="9344025"/>
            <a:ext cx="2562225" cy="51435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储电量与功率约束</a:t>
            </a:r>
            <a:r>
              <a:rPr lang="zh-CN"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检查</a:t>
            </a:r>
            <a:endParaRPr lang="zh-CN" sz="15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5534025" y="9344025"/>
            <a:ext cx="2419350" cy="51435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跨日连续与费用复算</a:t>
            </a:r>
            <a:endParaRPr sz="15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8305800" y="9344025"/>
            <a:ext cx="2543175" cy="51435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敏感性与方案对比</a:t>
            </a:r>
            <a:endParaRPr sz="15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11210925" y="9344025"/>
            <a:ext cx="2343150" cy="514350"/>
          </a:xfrm>
          <a:prstGeom prst="rect">
            <a:avLst/>
          </a:prstGeom>
          <a:gradFill>
            <a:gsLst>
              <a:gs pos="0">
                <a:srgbClr val="F4F8FC"/>
              </a:gs>
              <a:gs pos="100000">
                <a:srgbClr val="D7E6F2"/>
              </a:gs>
            </a:gsLst>
            <a:lin ang="5400000"/>
          </a:gradFill>
          <a:ln w="9525">
            <a:solidFill>
              <a:srgbClr val="A6C0D8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50" b="0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结果图表与结论输出</a:t>
            </a:r>
            <a:endParaRPr sz="1550" b="0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右箭头 114"/>
          <p:cNvSpPr>
            <a:spLocks noGrp="1"/>
          </p:cNvSpPr>
          <p:nvPr/>
        </p:nvSpPr>
        <p:spPr>
          <a:xfrm>
            <a:off x="2305050" y="9486900"/>
            <a:ext cx="30480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16" name="右箭头 115"/>
          <p:cNvSpPr>
            <a:spLocks noGrp="1"/>
          </p:cNvSpPr>
          <p:nvPr/>
        </p:nvSpPr>
        <p:spPr>
          <a:xfrm>
            <a:off x="5172075" y="9486900"/>
            <a:ext cx="30480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17" name="右箭头 116"/>
          <p:cNvSpPr>
            <a:spLocks noGrp="1"/>
          </p:cNvSpPr>
          <p:nvPr/>
        </p:nvSpPr>
        <p:spPr>
          <a:xfrm>
            <a:off x="7953375" y="9486900"/>
            <a:ext cx="30480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18" name="右箭头 117"/>
          <p:cNvSpPr>
            <a:spLocks noGrp="1"/>
          </p:cNvSpPr>
          <p:nvPr/>
        </p:nvSpPr>
        <p:spPr>
          <a:xfrm>
            <a:off x="10848975" y="9486900"/>
            <a:ext cx="304800" cy="247650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5143500" y="10010775"/>
            <a:ext cx="3714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lnSpc>
                <a:spcPct val="92000"/>
              </a:lnSpc>
              <a:buNone/>
              <a:defRPr b="1">
                <a:solidFill>
                  <a:srgbClr val="0B1E4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endParaRPr sz="1550" b="1">
              <a:solidFill>
                <a:srgbClr val="0B1E4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右箭头 40"/>
          <p:cNvSpPr>
            <a:spLocks noGrp="1"/>
          </p:cNvSpPr>
          <p:nvPr/>
        </p:nvSpPr>
        <p:spPr>
          <a:xfrm>
            <a:off x="6388735" y="4476750"/>
            <a:ext cx="200025" cy="257175"/>
          </a:xfrm>
          <a:prstGeom prst="rightArrow">
            <a:avLst/>
          </a:prstGeom>
          <a:solidFill>
            <a:srgbClr val="6F8FC9"/>
          </a:solidFill>
          <a:ln w="4763">
            <a:solidFill>
              <a:srgbClr val="6F8FC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WPS 演示</Application>
  <PresentationFormat>Converted Presentation</PresentationFormat>
  <Paragraphs>112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WPS_1678631666</cp:lastModifiedBy>
  <cp:revision>10</cp:revision>
  <dcterms:created xsi:type="dcterms:W3CDTF">2026-09-12T05:54:00Z</dcterms:created>
  <dcterms:modified xsi:type="dcterms:W3CDTF">2026-09-12T06:43:40Z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B34B888C7A7A4E85AE5EA5703B545075_13</vt:lpwstr>
  </property>
</Properties>
</file>